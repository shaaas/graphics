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oppins"/>
      <p:regular r:id="rId23"/>
      <p:bold r:id="rId24"/>
      <p:italic r:id="rId25"/>
      <p:boldItalic r:id="rId26"/>
    </p:embeddedFont>
    <p:embeddedFont>
      <p:font typeface="Old Standard TT"/>
      <p:regular r:id="rId27"/>
      <p:bold r:id="rId28"/>
      <p:italic r:id="rId29"/>
    </p:embeddedFont>
    <p:embeddedFont>
      <p:font typeface="Poppins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OldStandardTT-bold.fntdata"/><Relationship Id="rId27" Type="http://schemas.openxmlformats.org/officeDocument/2006/relationships/font" Target="fonts/OldStandardT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ldStandardT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SemiBold-bold.fntdata"/><Relationship Id="rId30" Type="http://schemas.openxmlformats.org/officeDocument/2006/relationships/font" Target="fonts/PoppinsSemiBold-regular.fntdata"/><Relationship Id="rId11" Type="http://schemas.openxmlformats.org/officeDocument/2006/relationships/slide" Target="slides/slide6.xml"/><Relationship Id="rId33" Type="http://schemas.openxmlformats.org/officeDocument/2006/relationships/font" Target="fonts/PoppinsSemiBold-boldItalic.fntdata"/><Relationship Id="rId10" Type="http://schemas.openxmlformats.org/officeDocument/2006/relationships/slide" Target="slides/slide5.xml"/><Relationship Id="rId32" Type="http://schemas.openxmlformats.org/officeDocument/2006/relationships/font" Target="fonts/PoppinsSemi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0357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035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c6f90357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c6f9035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90357f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9035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c6f90357f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c6f9035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c6f90357f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c6f90357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c6f90357f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c6f9035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71dd105885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71dd10588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c6f90357f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c6f90357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1dd105885_0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71dd10588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1dd105885_0_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71dd10588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1dd105885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71dd10588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1dd105885_0_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71dd10588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1dd105885_0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71dd10588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71dd105885_0_4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71dd10588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1dd105885_0_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71dd10588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hyperlink" Target="https://en.wikipedia.org/wiki/Non-fungible_toke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lnSpc>
                <a:spcPct val="115000"/>
              </a:lnSpc>
              <a:spcBef>
                <a:spcPts val="800"/>
              </a:spcBef>
              <a:spcAft>
                <a:spcPts val="800"/>
              </a:spcAft>
              <a:buClr>
                <a:schemeClr val="dk1"/>
              </a:buClr>
              <a:buSzPts val="1100"/>
              <a:buFont typeface="Arial"/>
              <a:buNone/>
            </a:pPr>
            <a:r>
              <a:rPr lang="en" sz="2600"/>
              <a:t>Gate-keeping in the Arts, Culture and Design Space</a:t>
            </a:r>
            <a:r>
              <a:rPr lang="en" sz="6000"/>
              <a:t>.</a:t>
            </a:r>
            <a:endParaRPr sz="5800">
              <a:solidFill>
                <a:schemeClr val="lt1"/>
              </a:solidFill>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Liyai Maina.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490250" y="526350"/>
            <a:ext cx="8046900" cy="4090800"/>
          </a:xfrm>
          <a:prstGeom prst="rect">
            <a:avLst/>
          </a:prstGeom>
        </p:spPr>
        <p:txBody>
          <a:bodyPr anchorCtr="0" anchor="ctr"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The arts, culture, and design sectors in Africa are vibrant and diverse, yet systemic gatekeeping continues to hinder equitable access, visibility, and growth for emerging and marginalized creatives. Despite a continent rich with artistic traditions and contemporary innovation, access to funding, international platforms, recognition, and leadership roles remains disproportionately controlled by a small elite group—often influenced by Eurocentric standards, legacy institutions, or non-African intermediaries. Manifesting through;</a:t>
            </a:r>
            <a:endParaRPr sz="1200">
              <a:solidFill>
                <a:srgbClr val="002B56"/>
              </a:solidFill>
              <a:latin typeface="Poppins SemiBold"/>
              <a:ea typeface="Poppins SemiBold"/>
              <a:cs typeface="Poppins SemiBold"/>
              <a:sym typeface="Poppins SemiBold"/>
            </a:endParaRPr>
          </a:p>
          <a:p>
            <a:pPr indent="0" lvl="0" marL="0" rtl="0" algn="l">
              <a:lnSpc>
                <a:spcPct val="115000"/>
              </a:lnSpc>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*Foreign narrative dominance</a:t>
            </a:r>
            <a:endParaRPr sz="1200">
              <a:solidFill>
                <a:srgbClr val="002B56"/>
              </a:solidFill>
              <a:latin typeface="Poppins SemiBold"/>
              <a:ea typeface="Poppins SemiBold"/>
              <a:cs typeface="Poppins SemiBold"/>
              <a:sym typeface="Poppins SemiBold"/>
            </a:endParaRPr>
          </a:p>
          <a:p>
            <a:pPr indent="0" lvl="0" marL="0" rtl="0" algn="l">
              <a:lnSpc>
                <a:spcPct val="115000"/>
              </a:lnSpc>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*Barriers to global representation</a:t>
            </a:r>
            <a:endParaRPr sz="1200">
              <a:solidFill>
                <a:srgbClr val="002B56"/>
              </a:solidFill>
              <a:latin typeface="Poppins SemiBold"/>
              <a:ea typeface="Poppins SemiBold"/>
              <a:cs typeface="Poppins SemiBold"/>
              <a:sym typeface="Poppins SemiBold"/>
            </a:endParaRPr>
          </a:p>
          <a:p>
            <a:pPr indent="0" lvl="0" marL="0" rtl="0" algn="l">
              <a:lnSpc>
                <a:spcPct val="115000"/>
              </a:lnSpc>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*Urban-centric power structures</a:t>
            </a:r>
            <a:endParaRPr sz="1200">
              <a:solidFill>
                <a:srgbClr val="002B56"/>
              </a:solidFill>
              <a:latin typeface="Poppins SemiBold"/>
              <a:ea typeface="Poppins SemiBold"/>
              <a:cs typeface="Poppins SemiBold"/>
              <a:sym typeface="Poppins SemiBold"/>
            </a:endParaRPr>
          </a:p>
          <a:p>
            <a:pPr indent="0" lvl="0" marL="0" rtl="0" algn="l">
              <a:lnSpc>
                <a:spcPct val="115000"/>
              </a:lnSpc>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*Colonial legacy and institutional inertia</a:t>
            </a:r>
            <a:endParaRPr sz="1200">
              <a:solidFill>
                <a:srgbClr val="002B56"/>
              </a:solidFill>
              <a:latin typeface="Poppins SemiBold"/>
              <a:ea typeface="Poppins SemiBold"/>
              <a:cs typeface="Poppins SemiBold"/>
              <a:sym typeface="Poppins SemiBold"/>
            </a:endParaRPr>
          </a:p>
          <a:p>
            <a:pPr indent="0" lvl="0" marL="0" rtl="0" algn="l">
              <a:lnSpc>
                <a:spcPct val="115000"/>
              </a:lnSpc>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These gatekeeping mechanisms not only limit creative freedom but also perpetuate inequality, stifle youth innovation, and reduce the continent’s potential to shape its own cultural narratives globally. 5–10 million people across the continent are impacted by systemic gatekeeping, with disproportionate effects on women, youth, rural populations, and marginalized creatives.</a:t>
            </a:r>
            <a:endParaRPr sz="1200">
              <a:solidFill>
                <a:srgbClr val="002B56"/>
              </a:solidFill>
              <a:latin typeface="Poppins SemiBold"/>
              <a:ea typeface="Poppins SemiBold"/>
              <a:cs typeface="Poppins SemiBold"/>
              <a:sym typeface="Poppins SemiBold"/>
            </a:endParaRPr>
          </a:p>
          <a:p>
            <a:pPr indent="0" lvl="0" marL="0" rtl="0" algn="l">
              <a:lnSpc>
                <a:spcPct val="115000"/>
              </a:lnSpc>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A reimagining of inclusivity, decentralization, and African-led institutional reform is essential to dismantling these barriers.</a:t>
            </a:r>
            <a:endParaRPr sz="1200">
              <a:solidFill>
                <a:schemeClr val="dk1"/>
              </a:solidFill>
              <a:latin typeface="Poppins"/>
              <a:ea typeface="Poppins"/>
              <a:cs typeface="Poppins"/>
              <a:sym typeface="Poppins"/>
            </a:endParaRPr>
          </a:p>
          <a:p>
            <a:pPr indent="0" lvl="0" marL="0" rtl="0" algn="l">
              <a:spcBef>
                <a:spcPts val="800"/>
              </a:spcBef>
              <a:spcAft>
                <a:spcPts val="0"/>
              </a:spcAft>
              <a:buNone/>
            </a:pPr>
            <a:r>
              <a:t/>
            </a:r>
            <a:endParaRPr sz="4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93400" y="1893300"/>
            <a:ext cx="8118600" cy="1522800"/>
          </a:xfrm>
          <a:prstGeom prst="rect">
            <a:avLst/>
          </a:prstGeom>
        </p:spPr>
        <p:txBody>
          <a:bodyPr anchorCtr="0" anchor="b" bIns="91425" lIns="91425" spcFirstLastPara="1" rIns="91425" wrap="square" tIns="91425">
            <a:noAutofit/>
          </a:bodyPr>
          <a:lstStyle/>
          <a:p>
            <a:pPr indent="0" lvl="0" marL="0" marR="0" rtl="0" algn="l">
              <a:lnSpc>
                <a:spcPct val="115000"/>
              </a:lnSpc>
              <a:spcBef>
                <a:spcPts val="800"/>
              </a:spcBef>
              <a:spcAft>
                <a:spcPts val="800"/>
              </a:spcAft>
              <a:buNone/>
            </a:pPr>
            <a:r>
              <a:rPr lang="en" sz="2600"/>
              <a:t>Your Personal Mission Statement VS GCGO</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Convergence</a:t>
            </a:r>
            <a:endParaRPr/>
          </a:p>
        </p:txBody>
      </p:sp>
      <p:sp>
        <p:nvSpPr>
          <p:cNvPr id="76" name="Google Shape;76;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57150" rtl="0" algn="l">
              <a:spcBef>
                <a:spcPts val="800"/>
              </a:spcBef>
              <a:spcAft>
                <a:spcPts val="0"/>
              </a:spcAft>
              <a:buClr>
                <a:schemeClr val="dk1"/>
              </a:buClr>
              <a:buSzPts val="1100"/>
              <a:buFont typeface="Arial"/>
              <a:buNone/>
            </a:pPr>
            <a:r>
              <a:rPr lang="en" sz="1200">
                <a:solidFill>
                  <a:schemeClr val="lt1"/>
                </a:solidFill>
                <a:latin typeface="Poppins SemiBold"/>
                <a:ea typeface="Poppins SemiBold"/>
                <a:cs typeface="Poppins SemiBold"/>
                <a:sym typeface="Poppins SemiBold"/>
              </a:rPr>
              <a:t>My personal mission statement is all about enhancing self-sufficiency with the goal of empowering myself and those in my immediate environment. With a passion for the Arts whilst being an artist myself by tackling the problem stated above “Gate-keeping” I will in-turn be able to both empower myself and those who share my passion for Arts, Culture and Design. Not to mention encourage self-sufficiency for those who are set to benefit from the freeing of the sector from the urban centric power structure that dominates it among other key barriers.</a:t>
            </a:r>
            <a:endParaRPr sz="1200">
              <a:solidFill>
                <a:schemeClr val="lt1"/>
              </a:solidFill>
              <a:latin typeface="Poppins SemiBold"/>
              <a:ea typeface="Poppins SemiBold"/>
              <a:cs typeface="Poppins SemiBold"/>
              <a:sym typeface="Poppins SemiBold"/>
            </a:endParaRPr>
          </a:p>
          <a:p>
            <a:pPr indent="0" lvl="0" marL="0" rtl="0" algn="l">
              <a:spcBef>
                <a:spcPts val="8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lnSpc>
                <a:spcPct val="115000"/>
              </a:lnSpc>
              <a:spcBef>
                <a:spcPts val="800"/>
              </a:spcBef>
              <a:spcAft>
                <a:spcPts val="800"/>
              </a:spcAft>
              <a:buClr>
                <a:schemeClr val="dk1"/>
              </a:buClr>
              <a:buSzPts val="1100"/>
              <a:buFont typeface="Arial"/>
              <a:buNone/>
            </a:pPr>
            <a:r>
              <a:rPr lang="en" sz="2600"/>
              <a:t>Core </a:t>
            </a:r>
            <a:r>
              <a:rPr lang="en" sz="2600"/>
              <a:t>Stakeholders.</a:t>
            </a:r>
            <a:endParaRPr sz="4400"/>
          </a:p>
        </p:txBody>
      </p:sp>
      <p:sp>
        <p:nvSpPr>
          <p:cNvPr id="82" name="Google Shape;82;p17"/>
          <p:cNvSpPr txBox="1"/>
          <p:nvPr>
            <p:ph idx="1" type="body"/>
          </p:nvPr>
        </p:nvSpPr>
        <p:spPr>
          <a:xfrm>
            <a:off x="311700" y="1171675"/>
            <a:ext cx="5945400" cy="3397200"/>
          </a:xfrm>
          <a:prstGeom prst="rect">
            <a:avLst/>
          </a:prstGeom>
        </p:spPr>
        <p:txBody>
          <a:bodyPr anchorCtr="0" anchor="t" bIns="91425" lIns="91425" spcFirstLastPara="1" rIns="91425" wrap="square" tIns="91425">
            <a:noAutofit/>
          </a:bodyPr>
          <a:lstStyle/>
          <a:p>
            <a:pPr indent="0" lvl="0" marL="57150" rtl="0" algn="l">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The Creative Economy are at the fore-front of being the immediate beneficiaries of the ejection of gate-keeping, most especially the up &amp; budding artists, designers and entrepreneurs. Currently they are encountered by an array of issues influenced by political, socio-cultural, economic, &amp; historical factors.</a:t>
            </a:r>
            <a:endParaRPr sz="1200">
              <a:solidFill>
                <a:srgbClr val="002B56"/>
              </a:solidFill>
              <a:latin typeface="Poppins SemiBold"/>
              <a:ea typeface="Poppins SemiBold"/>
              <a:cs typeface="Poppins SemiBold"/>
              <a:sym typeface="Poppins SemiBold"/>
            </a:endParaRPr>
          </a:p>
          <a:p>
            <a:pPr indent="0" lvl="0" marL="57150" rtl="0" algn="l">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The above ultimately result in:</a:t>
            </a:r>
            <a:endParaRPr sz="1200">
              <a:solidFill>
                <a:srgbClr val="002B56"/>
              </a:solidFill>
              <a:latin typeface="Poppins SemiBold"/>
              <a:ea typeface="Poppins SemiBold"/>
              <a:cs typeface="Poppins SemiBold"/>
              <a:sym typeface="Poppins SemiBold"/>
            </a:endParaRPr>
          </a:p>
          <a:p>
            <a:pPr indent="0" lvl="0" marL="57150" rtl="0" algn="l">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According to UNESCO and UNCTAD: Taking both formal and informal sectors into account, the number of people affected by gatekeeping is likely between 5–10 million across Africa</a:t>
            </a:r>
            <a:endParaRPr sz="1200">
              <a:solidFill>
                <a:srgbClr val="002B56"/>
              </a:solidFill>
              <a:latin typeface="Poppins SemiBold"/>
              <a:ea typeface="Poppins SemiBold"/>
              <a:cs typeface="Poppins SemiBold"/>
              <a:sym typeface="Poppins SemiBold"/>
            </a:endParaRPr>
          </a:p>
          <a:p>
            <a:pPr indent="0" lvl="0" marL="57150" rtl="0" algn="l">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 The creative economy (arts, culture, design, film, fashion, music, etc.) contributes between 1–3% of GDP in many African countries, with significant potential for growth.</a:t>
            </a:r>
            <a:endParaRPr sz="1200">
              <a:solidFill>
                <a:srgbClr val="002B56"/>
              </a:solidFill>
              <a:latin typeface="Poppins SemiBold"/>
              <a:ea typeface="Poppins SemiBold"/>
              <a:cs typeface="Poppins SemiBold"/>
              <a:sym typeface="Poppins SemiBold"/>
            </a:endParaRPr>
          </a:p>
          <a:p>
            <a:pPr indent="0" lvl="0" marL="57150" rtl="0" algn="l">
              <a:spcBef>
                <a:spcPts val="800"/>
              </a:spcBef>
              <a:spcAft>
                <a:spcPts val="0"/>
              </a:spcAft>
              <a:buClr>
                <a:schemeClr val="dk1"/>
              </a:buClr>
              <a:buSzPts val="1100"/>
              <a:buFont typeface="Arial"/>
              <a:buNone/>
            </a:pPr>
            <a:r>
              <a:rPr lang="en" sz="1200">
                <a:solidFill>
                  <a:srgbClr val="002B56"/>
                </a:solidFill>
                <a:latin typeface="Poppins SemiBold"/>
                <a:ea typeface="Poppins SemiBold"/>
                <a:cs typeface="Poppins SemiBold"/>
                <a:sym typeface="Poppins SemiBold"/>
              </a:rPr>
              <a:t>● The International Confederation of Societies of Authors and Composers (CISAC) reported that over 2.4 million jobs across Africa are directly tied to the creative and cultural industries.</a:t>
            </a:r>
            <a:endParaRPr sz="1200">
              <a:solidFill>
                <a:srgbClr val="002B56"/>
              </a:solidFill>
              <a:latin typeface="Poppins SemiBold"/>
              <a:ea typeface="Poppins SemiBold"/>
              <a:cs typeface="Poppins SemiBold"/>
              <a:sym typeface="Poppins SemiBold"/>
            </a:endParaRPr>
          </a:p>
          <a:p>
            <a:pPr indent="0" lvl="0" marL="0" rtl="0" algn="l">
              <a:spcBef>
                <a:spcPts val="800"/>
              </a:spcBef>
              <a:spcAft>
                <a:spcPts val="1600"/>
              </a:spcAft>
              <a:buNone/>
            </a:pPr>
            <a:r>
              <a:t/>
            </a:r>
            <a:endParaRPr sz="1600"/>
          </a:p>
        </p:txBody>
      </p:sp>
      <p:pic>
        <p:nvPicPr>
          <p:cNvPr descr="Modern, round computer speaker" id="83" name="Google Shape;83;p17"/>
          <p:cNvPicPr preferRelativeResize="0"/>
          <p:nvPr/>
        </p:nvPicPr>
        <p:blipFill rotWithShape="1">
          <a:blip r:embed="rId3">
            <a:alphaModFix/>
          </a:blip>
          <a:srcRect b="15127" l="6179" r="35687" t="10754"/>
          <a:stretch/>
        </p:blipFill>
        <p:spPr>
          <a:xfrm>
            <a:off x="6796425" y="342525"/>
            <a:ext cx="2035799" cy="1946700"/>
          </a:xfrm>
          <a:prstGeom prst="rect">
            <a:avLst/>
          </a:prstGeom>
          <a:noFill/>
          <a:ln>
            <a:noFill/>
          </a:ln>
        </p:spPr>
      </p:pic>
      <p:pic>
        <p:nvPicPr>
          <p:cNvPr descr="Empty upside down mason jars resting on picket fence posts" id="84" name="Google Shape;84;p17"/>
          <p:cNvPicPr preferRelativeResize="0"/>
          <p:nvPr/>
        </p:nvPicPr>
        <p:blipFill rotWithShape="1">
          <a:blip r:embed="rId4">
            <a:alphaModFix/>
          </a:blip>
          <a:srcRect b="9949" l="9164" r="3636" t="13038"/>
          <a:stretch/>
        </p:blipFill>
        <p:spPr>
          <a:xfrm>
            <a:off x="6376350" y="2362675"/>
            <a:ext cx="3344123" cy="24203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lnSpc>
                <a:spcPct val="115000"/>
              </a:lnSpc>
              <a:spcBef>
                <a:spcPts val="800"/>
              </a:spcBef>
              <a:spcAft>
                <a:spcPts val="800"/>
              </a:spcAft>
              <a:buClr>
                <a:schemeClr val="dk1"/>
              </a:buClr>
              <a:buSzPts val="1100"/>
              <a:buFont typeface="Arial"/>
              <a:buNone/>
            </a:pPr>
            <a:r>
              <a:rPr lang="en" sz="4200">
                <a:solidFill>
                  <a:schemeClr val="lt1"/>
                </a:solidFill>
              </a:rPr>
              <a:t>Inquisitions.</a:t>
            </a:r>
            <a:endParaRPr sz="42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490250" y="526350"/>
            <a:ext cx="7145400" cy="4090800"/>
          </a:xfrm>
          <a:prstGeom prst="rect">
            <a:avLst/>
          </a:prstGeom>
        </p:spPr>
        <p:txBody>
          <a:bodyPr anchorCtr="0" anchor="ctr"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lang="en" sz="1400">
                <a:solidFill>
                  <a:srgbClr val="002B56"/>
                </a:solidFill>
                <a:latin typeface="Poppins SemiBold"/>
                <a:ea typeface="Poppins SemiBold"/>
                <a:cs typeface="Poppins SemiBold"/>
                <a:sym typeface="Poppins SemiBold"/>
              </a:rPr>
              <a:t>A multifaceted approach in collecting data and information specifically tied to the problem at hand was employed in addressing what scope of work;</a:t>
            </a:r>
            <a:endParaRPr sz="1400">
              <a:solidFill>
                <a:srgbClr val="002B56"/>
              </a:solidFill>
              <a:latin typeface="Poppins SemiBold"/>
              <a:ea typeface="Poppins SemiBold"/>
              <a:cs typeface="Poppins SemiBold"/>
              <a:sym typeface="Poppins SemiBold"/>
            </a:endParaRPr>
          </a:p>
          <a:p>
            <a:pPr indent="0" lvl="0" marL="0" rtl="0" algn="l">
              <a:lnSpc>
                <a:spcPct val="115000"/>
              </a:lnSpc>
              <a:spcBef>
                <a:spcPts val="800"/>
              </a:spcBef>
              <a:spcAft>
                <a:spcPts val="0"/>
              </a:spcAft>
              <a:buClr>
                <a:schemeClr val="dk1"/>
              </a:buClr>
              <a:buSzPts val="1100"/>
              <a:buFont typeface="Arial"/>
              <a:buNone/>
            </a:pPr>
            <a:r>
              <a:rPr lang="en" sz="1400">
                <a:solidFill>
                  <a:srgbClr val="002B56"/>
                </a:solidFill>
                <a:latin typeface="Poppins SemiBold"/>
                <a:ea typeface="Poppins SemiBold"/>
                <a:cs typeface="Poppins SemiBold"/>
                <a:sym typeface="Poppins SemiBold"/>
              </a:rPr>
              <a:t>With the main objective being the sensitisation of key stakeholders, exposing of faults in the current structure of art, culture and design framework, and ultimately providing more efficient means to promote the creative economy in promoting and enjoying the benefits of their craft. The following proved integral:</a:t>
            </a:r>
            <a:endParaRPr sz="1400">
              <a:solidFill>
                <a:srgbClr val="002B56"/>
              </a:solidFill>
              <a:latin typeface="Poppins SemiBold"/>
              <a:ea typeface="Poppins SemiBold"/>
              <a:cs typeface="Poppins SemiBold"/>
              <a:sym typeface="Poppins SemiBold"/>
            </a:endParaRPr>
          </a:p>
          <a:p>
            <a:pPr indent="-317500" lvl="0" marL="457200" rtl="0" algn="l">
              <a:lnSpc>
                <a:spcPct val="115000"/>
              </a:lnSpc>
              <a:spcBef>
                <a:spcPts val="800"/>
              </a:spcBef>
              <a:spcAft>
                <a:spcPts val="0"/>
              </a:spcAft>
              <a:buClr>
                <a:srgbClr val="002B56"/>
              </a:buClr>
              <a:buSzPts val="1400"/>
              <a:buFont typeface="Poppins SemiBold"/>
              <a:buChar char="●"/>
            </a:pPr>
            <a:r>
              <a:rPr lang="en" sz="1400">
                <a:solidFill>
                  <a:srgbClr val="002B56"/>
                </a:solidFill>
                <a:latin typeface="Poppins SemiBold"/>
                <a:ea typeface="Poppins SemiBold"/>
                <a:cs typeface="Poppins SemiBold"/>
                <a:sym typeface="Poppins SemiBold"/>
              </a:rPr>
              <a:t>Who are the gatekeepers?</a:t>
            </a:r>
            <a:endParaRPr sz="1400">
              <a:solidFill>
                <a:srgbClr val="002B56"/>
              </a:solidFill>
              <a:latin typeface="Poppins SemiBold"/>
              <a:ea typeface="Poppins SemiBold"/>
              <a:cs typeface="Poppins SemiBold"/>
              <a:sym typeface="Poppins SemiBold"/>
            </a:endParaRPr>
          </a:p>
          <a:p>
            <a:pPr indent="-317500" lvl="0" marL="457200" rtl="0" algn="l">
              <a:lnSpc>
                <a:spcPct val="115000"/>
              </a:lnSpc>
              <a:spcBef>
                <a:spcPts val="0"/>
              </a:spcBef>
              <a:spcAft>
                <a:spcPts val="0"/>
              </a:spcAft>
              <a:buClr>
                <a:srgbClr val="002B56"/>
              </a:buClr>
              <a:buSzPts val="1400"/>
              <a:buFont typeface="Poppins SemiBold"/>
              <a:buChar char="●"/>
            </a:pPr>
            <a:r>
              <a:rPr lang="en" sz="1400">
                <a:solidFill>
                  <a:srgbClr val="002B56"/>
                </a:solidFill>
                <a:latin typeface="Poppins SemiBold"/>
                <a:ea typeface="Poppins SemiBold"/>
                <a:cs typeface="Poppins SemiBold"/>
                <a:sym typeface="Poppins SemiBold"/>
              </a:rPr>
              <a:t>What are the effects of gatekeeping?</a:t>
            </a:r>
            <a:endParaRPr sz="1400">
              <a:solidFill>
                <a:srgbClr val="002B56"/>
              </a:solidFill>
              <a:latin typeface="Poppins SemiBold"/>
              <a:ea typeface="Poppins SemiBold"/>
              <a:cs typeface="Poppins SemiBold"/>
              <a:sym typeface="Poppins SemiBold"/>
            </a:endParaRPr>
          </a:p>
          <a:p>
            <a:pPr indent="-317500" lvl="0" marL="457200" rtl="0" algn="l">
              <a:lnSpc>
                <a:spcPct val="115000"/>
              </a:lnSpc>
              <a:spcBef>
                <a:spcPts val="0"/>
              </a:spcBef>
              <a:spcAft>
                <a:spcPts val="0"/>
              </a:spcAft>
              <a:buClr>
                <a:srgbClr val="002B56"/>
              </a:buClr>
              <a:buSzPts val="1400"/>
              <a:buFont typeface="Poppins SemiBold"/>
              <a:buChar char="●"/>
            </a:pPr>
            <a:r>
              <a:rPr lang="en" sz="1400">
                <a:solidFill>
                  <a:srgbClr val="002B56"/>
                </a:solidFill>
                <a:latin typeface="Poppins SemiBold"/>
                <a:ea typeface="Poppins SemiBold"/>
                <a:cs typeface="Poppins SemiBold"/>
                <a:sym typeface="Poppins SemiBold"/>
              </a:rPr>
              <a:t>How is the issue of gatekeeping going to be addressed?</a:t>
            </a:r>
            <a:endParaRPr sz="1400">
              <a:solidFill>
                <a:srgbClr val="002B56"/>
              </a:solidFill>
              <a:latin typeface="Poppins SemiBold"/>
              <a:ea typeface="Poppins SemiBold"/>
              <a:cs typeface="Poppins SemiBold"/>
              <a:sym typeface="Poppins SemiBold"/>
            </a:endParaRPr>
          </a:p>
          <a:p>
            <a:pPr indent="-317500" lvl="0" marL="457200" rtl="0" algn="l">
              <a:lnSpc>
                <a:spcPct val="115000"/>
              </a:lnSpc>
              <a:spcBef>
                <a:spcPts val="0"/>
              </a:spcBef>
              <a:spcAft>
                <a:spcPts val="0"/>
              </a:spcAft>
              <a:buClr>
                <a:srgbClr val="002B56"/>
              </a:buClr>
              <a:buSzPts val="1400"/>
              <a:buFont typeface="Poppins SemiBold"/>
              <a:buChar char="●"/>
            </a:pPr>
            <a:r>
              <a:rPr lang="en" sz="1400">
                <a:solidFill>
                  <a:srgbClr val="002B56"/>
                </a:solidFill>
                <a:latin typeface="Poppins SemiBold"/>
                <a:ea typeface="Poppins SemiBold"/>
                <a:cs typeface="Poppins SemiBold"/>
                <a:sym typeface="Poppins SemiBold"/>
              </a:rPr>
              <a:t>What will be the reality of things once the issue is addressed?</a:t>
            </a:r>
            <a:endParaRPr sz="1300">
              <a:solidFill>
                <a:srgbClr val="002B56"/>
              </a:solidFill>
              <a:latin typeface="Poppins SemiBold"/>
              <a:ea typeface="Poppins SemiBold"/>
              <a:cs typeface="Poppins SemiBold"/>
              <a:sym typeface="Poppins SemiBold"/>
            </a:endParaRPr>
          </a:p>
          <a:p>
            <a:pPr indent="0" lvl="0" marL="0" rtl="0" algn="l">
              <a:spcBef>
                <a:spcPts val="8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0" lvl="0" marL="57150" rtl="0" algn="l">
              <a:spcBef>
                <a:spcPts val="800"/>
              </a:spcBef>
              <a:spcAft>
                <a:spcPts val="0"/>
              </a:spcAft>
              <a:buClr>
                <a:schemeClr val="dk1"/>
              </a:buClr>
              <a:buSzPts val="1100"/>
              <a:buFont typeface="Arial"/>
              <a:buNone/>
            </a:pPr>
            <a:r>
              <a:rPr b="1" lang="en" sz="1800"/>
              <a:t>UNESCO and UNCTAD</a:t>
            </a:r>
            <a:endParaRPr b="1" sz="2400"/>
          </a:p>
          <a:p>
            <a:pPr indent="0" lvl="0" marL="57150" rtl="0" algn="l">
              <a:spcBef>
                <a:spcPts val="800"/>
              </a:spcBef>
              <a:spcAft>
                <a:spcPts val="0"/>
              </a:spcAft>
              <a:buNone/>
            </a:pPr>
            <a:r>
              <a:rPr lang="en" sz="1300">
                <a:solidFill>
                  <a:srgbClr val="002B56"/>
                </a:solidFill>
                <a:latin typeface="Poppins SemiBold"/>
                <a:ea typeface="Poppins SemiBold"/>
                <a:cs typeface="Poppins SemiBold"/>
                <a:sym typeface="Poppins SemiBold"/>
              </a:rPr>
              <a:t>According to UNESCO and UNCTAD: Taking both formal and informal sectors into account, the number of people affected by gatekeeping is likely between 5–10 million across Africa</a:t>
            </a:r>
            <a:endParaRPr sz="1300">
              <a:solidFill>
                <a:srgbClr val="002B56"/>
              </a:solidFill>
              <a:latin typeface="Poppins SemiBold"/>
              <a:ea typeface="Poppins SemiBold"/>
              <a:cs typeface="Poppins SemiBold"/>
              <a:sym typeface="Poppins SemiBold"/>
            </a:endParaRPr>
          </a:p>
          <a:p>
            <a:pPr indent="0" lvl="0" marL="57150" rtl="0" algn="l">
              <a:spcBef>
                <a:spcPts val="800"/>
              </a:spcBef>
              <a:spcAft>
                <a:spcPts val="0"/>
              </a:spcAft>
              <a:buNone/>
            </a:pPr>
            <a:r>
              <a:t/>
            </a:r>
            <a:endParaRPr sz="1300">
              <a:solidFill>
                <a:srgbClr val="002B56"/>
              </a:solidFill>
              <a:latin typeface="Poppins SemiBold"/>
              <a:ea typeface="Poppins SemiBold"/>
              <a:cs typeface="Poppins SemiBold"/>
              <a:sym typeface="Poppins SemiBold"/>
            </a:endParaRPr>
          </a:p>
          <a:p>
            <a:pPr indent="0" lvl="0" marL="0" rtl="0" algn="l">
              <a:spcBef>
                <a:spcPts val="800"/>
              </a:spcBef>
              <a:spcAft>
                <a:spcPts val="0"/>
              </a:spcAft>
              <a:buNone/>
            </a:pPr>
            <a:r>
              <a:rPr b="1" lang="en" sz="1800"/>
              <a:t>Estimates</a:t>
            </a:r>
            <a:endParaRPr b="1" sz="1800"/>
          </a:p>
          <a:p>
            <a:pPr indent="0" lvl="0" marL="57150" rtl="0" algn="l">
              <a:spcBef>
                <a:spcPts val="800"/>
              </a:spcBef>
              <a:spcAft>
                <a:spcPts val="80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Addressing gatekeeping in Africa would broadly benefit the entire population of Africa, which is currently over 1.4 billion people.</a:t>
            </a:r>
            <a:endParaRPr b="1" sz="1900"/>
          </a:p>
        </p:txBody>
      </p:sp>
      <p:sp>
        <p:nvSpPr>
          <p:cNvPr id="100" name="Google Shape;100;p20"/>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p>
            <a:pPr indent="0" lvl="0" marL="57150" rtl="0" algn="l">
              <a:spcBef>
                <a:spcPts val="800"/>
              </a:spcBef>
              <a:spcAft>
                <a:spcPts val="0"/>
              </a:spcAft>
              <a:buNone/>
            </a:pPr>
            <a:r>
              <a:rPr b="1" lang="en" sz="1800"/>
              <a:t>The International Confederation of Societies of Authors and Composers (</a:t>
            </a:r>
            <a:r>
              <a:rPr b="1" lang="en" sz="1800"/>
              <a:t>CISAC)</a:t>
            </a:r>
            <a:r>
              <a:rPr b="1" lang="en" sz="1800">
                <a:solidFill>
                  <a:srgbClr val="002B56"/>
                </a:solidFill>
              </a:rPr>
              <a:t> </a:t>
            </a:r>
            <a:endParaRPr b="1" sz="2400"/>
          </a:p>
          <a:p>
            <a:pPr indent="0" lvl="0" marL="57150" rtl="0" algn="l">
              <a:spcBef>
                <a:spcPts val="800"/>
              </a:spcBef>
              <a:spcAft>
                <a:spcPts val="80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The International Confederation of Societies of Authors and Composers (CISAC) reported that over 2.4 million jobs across Africa are directly tied to the creative and cultural industries.</a:t>
            </a:r>
            <a:endParaRPr b="1" sz="2500"/>
          </a:p>
        </p:txBody>
      </p:sp>
      <p:sp>
        <p:nvSpPr>
          <p:cNvPr id="101" name="Google Shape;101;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Factual Data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lnSpc>
                <a:spcPct val="115000"/>
              </a:lnSpc>
              <a:spcBef>
                <a:spcPts val="800"/>
              </a:spcBef>
              <a:spcAft>
                <a:spcPts val="800"/>
              </a:spcAft>
              <a:buNone/>
            </a:pPr>
            <a:r>
              <a:rPr lang="en" sz="4200">
                <a:solidFill>
                  <a:schemeClr val="lt1"/>
                </a:solidFill>
              </a:rPr>
              <a:t>Framework.</a:t>
            </a:r>
            <a:endParaRPr sz="42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Cool Hands Warm Heart</a:t>
            </a:r>
            <a:endParaRPr/>
          </a:p>
        </p:txBody>
      </p:sp>
      <p:sp>
        <p:nvSpPr>
          <p:cNvPr id="112" name="Google Shape;112;p2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This problem directly affects artists, designers, and creatives in the market. It also by extension affects the enthusiasts that champion the vibrancy of the field by curating the artworks.</a:t>
            </a:r>
            <a:endParaRPr sz="1300">
              <a:solidFill>
                <a:srgbClr val="002B56"/>
              </a:solidFill>
              <a:latin typeface="Poppins SemiBold"/>
              <a:ea typeface="Poppins SemiBold"/>
              <a:cs typeface="Poppins SemiBold"/>
              <a:sym typeface="Poppins SemiBold"/>
            </a:endParaRPr>
          </a:p>
          <a:p>
            <a:pPr indent="0" lvl="0" marL="0" rtl="0" algn="l">
              <a:spcBef>
                <a:spcPts val="800"/>
              </a:spcBef>
              <a:spcAft>
                <a:spcPts val="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The proponents of this problem are specifically gatekeepers and household names in the creative industry.</a:t>
            </a:r>
            <a:endParaRPr sz="1300">
              <a:solidFill>
                <a:srgbClr val="002B56"/>
              </a:solidFill>
              <a:latin typeface="Poppins SemiBold"/>
              <a:ea typeface="Poppins SemiBold"/>
              <a:cs typeface="Poppins SemiBold"/>
              <a:sym typeface="Poppins SemiBold"/>
            </a:endParaRPr>
          </a:p>
          <a:p>
            <a:pPr indent="0" lvl="0" marL="0" rtl="0" algn="l">
              <a:spcBef>
                <a:spcPts val="800"/>
              </a:spcBef>
              <a:spcAft>
                <a:spcPts val="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This problem became mostly evident in the 1990s, which was essentially driven by foreign donors after the upsurge of popularity of fine art in the 1990s. This surge was attributed to the setup of galleries such as New Stanley and Sorbie’s, to mention but a few.</a:t>
            </a:r>
            <a:endParaRPr sz="1300">
              <a:solidFill>
                <a:srgbClr val="002B56"/>
              </a:solidFill>
              <a:latin typeface="Poppins SemiBold"/>
              <a:ea typeface="Poppins SemiBold"/>
              <a:cs typeface="Poppins SemiBold"/>
              <a:sym typeface="Poppins SemiBold"/>
            </a:endParaRPr>
          </a:p>
          <a:p>
            <a:pPr indent="0" lvl="0" marL="0" rtl="0" algn="l">
              <a:spcBef>
                <a:spcPts val="800"/>
              </a:spcBef>
              <a:spcAft>
                <a:spcPts val="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The immediate context of this observation is in Kenya; however can also be seen in other African Countries in the East African region, such as Tanzania.</a:t>
            </a:r>
            <a:endParaRPr sz="1300">
              <a:solidFill>
                <a:srgbClr val="002B56"/>
              </a:solidFill>
              <a:latin typeface="Poppins SemiBold"/>
              <a:ea typeface="Poppins SemiBold"/>
              <a:cs typeface="Poppins SemiBold"/>
              <a:sym typeface="Poppins SemiBold"/>
            </a:endParaRPr>
          </a:p>
          <a:p>
            <a:pPr indent="0" lvl="0" marL="0" rtl="0" algn="l">
              <a:spcBef>
                <a:spcPts val="800"/>
              </a:spcBef>
              <a:spcAft>
                <a:spcPts val="80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By leveraging both these facts and the individual experiences of a fellow artist for emotional context the cool hand warm heart framework fit best given scarcity of empirical data on the topic being addressed.</a:t>
            </a:r>
            <a:endParaRPr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lnSpc>
                <a:spcPct val="115000"/>
              </a:lnSpc>
              <a:spcBef>
                <a:spcPts val="800"/>
              </a:spcBef>
              <a:spcAft>
                <a:spcPts val="800"/>
              </a:spcAft>
              <a:buNone/>
            </a:pPr>
            <a:r>
              <a:rPr lang="en" sz="4200">
                <a:solidFill>
                  <a:schemeClr val="lt1"/>
                </a:solidFill>
              </a:rPr>
              <a:t>Solutions</a:t>
            </a:r>
            <a:r>
              <a:rPr lang="en" sz="4200">
                <a:solidFill>
                  <a:schemeClr val="lt1"/>
                </a:solidFill>
              </a:rPr>
              <a:t>.</a:t>
            </a:r>
            <a:endParaRPr sz="42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265500" y="172325"/>
            <a:ext cx="4045200" cy="140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Political &amp; Policy Reforms</a:t>
            </a:r>
            <a:endParaRPr/>
          </a:p>
        </p:txBody>
      </p:sp>
      <p:sp>
        <p:nvSpPr>
          <p:cNvPr id="123" name="Google Shape;123;p24"/>
          <p:cNvSpPr txBox="1"/>
          <p:nvPr>
            <p:ph idx="2" type="body"/>
          </p:nvPr>
        </p:nvSpPr>
        <p:spPr>
          <a:xfrm>
            <a:off x="4891625" y="291650"/>
            <a:ext cx="3884700" cy="4127700"/>
          </a:xfrm>
          <a:prstGeom prst="rect">
            <a:avLst/>
          </a:prstGeom>
        </p:spPr>
        <p:txBody>
          <a:bodyPr anchorCtr="0" anchor="ctr" bIns="91425" lIns="91425" spcFirstLastPara="1" rIns="91425" wrap="square" tIns="91425">
            <a:noAutofit/>
          </a:bodyPr>
          <a:lstStyle/>
          <a:p>
            <a:pPr indent="0" lvl="0" marL="0" rtl="0" algn="l">
              <a:spcBef>
                <a:spcPts val="800"/>
              </a:spcBef>
              <a:spcAft>
                <a:spcPts val="0"/>
              </a:spcAft>
              <a:buNone/>
            </a:pPr>
            <a:r>
              <a:rPr lang="en" sz="2200">
                <a:solidFill>
                  <a:schemeClr val="lt2"/>
                </a:solidFill>
              </a:rPr>
              <a:t>The Development of new facilitation frameworks</a:t>
            </a:r>
            <a:endParaRPr sz="2200">
              <a:solidFill>
                <a:schemeClr val="lt2"/>
              </a:solidFill>
            </a:endParaRPr>
          </a:p>
          <a:p>
            <a:pPr indent="0" lvl="0" marL="0" rtl="0" algn="l">
              <a:spcBef>
                <a:spcPts val="800"/>
              </a:spcBef>
              <a:spcAft>
                <a:spcPts val="800"/>
              </a:spcAft>
              <a:buClr>
                <a:schemeClr val="dk1"/>
              </a:buClr>
              <a:buSzPts val="1100"/>
              <a:buFont typeface="Arial"/>
              <a:buNone/>
            </a:pPr>
            <a:r>
              <a:rPr lang="en" sz="1300">
                <a:solidFill>
                  <a:schemeClr val="lt1"/>
                </a:solidFill>
                <a:latin typeface="Poppins SemiBold"/>
                <a:ea typeface="Poppins SemiBold"/>
                <a:cs typeface="Poppins SemiBold"/>
                <a:sym typeface="Poppins SemiBold"/>
              </a:rPr>
              <a:t>The exodus from the conventional gallery showcasing and public expedition means currently designated as the mainstream means of marketing to technologically smart innovations. These may include websites, application frameworks and the use of cloud-based mechanisms. In essence the introduction of the Arts, Culture and Design sector to the metaverse.</a:t>
            </a:r>
            <a:endParaRPr sz="2300">
              <a:solidFill>
                <a:schemeClr val="lt1"/>
              </a:solidFill>
            </a:endParaRPr>
          </a:p>
        </p:txBody>
      </p:sp>
      <p:sp>
        <p:nvSpPr>
          <p:cNvPr id="124" name="Google Shape;124;p24"/>
          <p:cNvSpPr txBox="1"/>
          <p:nvPr>
            <p:ph idx="1" type="subTitle"/>
          </p:nvPr>
        </p:nvSpPr>
        <p:spPr>
          <a:xfrm>
            <a:off x="265500" y="1842649"/>
            <a:ext cx="4045200" cy="2271900"/>
          </a:xfrm>
          <a:prstGeom prst="rect">
            <a:avLst/>
          </a:prstGeom>
        </p:spPr>
        <p:txBody>
          <a:bodyPr anchorCtr="0" anchor="t" bIns="91425" lIns="91425" spcFirstLastPara="1" rIns="91425" wrap="square" tIns="91425">
            <a:noAutofit/>
          </a:bodyPr>
          <a:lstStyle/>
          <a:p>
            <a:pPr indent="0" lvl="0" marL="57150" rtl="0" algn="l">
              <a:lnSpc>
                <a:spcPct val="115000"/>
              </a:lnSpc>
              <a:spcBef>
                <a:spcPts val="800"/>
              </a:spcBef>
              <a:spcAft>
                <a:spcPts val="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Through championing bills and amending those that promote the creative arts, cultural and design sectors, upgrading its status to a potential revenue generating industry capable of actively contributing to the Continents GDP will go a long way in solving the capture by gate-keepers.</a:t>
            </a:r>
            <a:endParaRPr sz="1300">
              <a:solidFill>
                <a:srgbClr val="002B56"/>
              </a:solidFill>
              <a:latin typeface="Poppins SemiBold"/>
              <a:ea typeface="Poppins SemiBold"/>
              <a:cs typeface="Poppins SemiBold"/>
              <a:sym typeface="Poppins SemiBold"/>
            </a:endParaRPr>
          </a:p>
          <a:p>
            <a:pPr indent="0" lvl="0" marL="0" rtl="0" algn="l">
              <a:lnSpc>
                <a:spcPct val="115000"/>
              </a:lnSpc>
              <a:spcBef>
                <a:spcPts val="800"/>
              </a:spcBef>
              <a:spcAft>
                <a:spcPts val="0"/>
              </a:spcAft>
              <a:buClr>
                <a:schemeClr val="dk1"/>
              </a:buClr>
              <a:buSzPts val="1100"/>
              <a:buFont typeface="Arial"/>
              <a:buNone/>
            </a:pPr>
            <a:r>
              <a:t/>
            </a:r>
            <a:endParaRPr sz="1300">
              <a:solidFill>
                <a:srgbClr val="002B56"/>
              </a:solidFill>
              <a:latin typeface="Poppins SemiBold"/>
              <a:ea typeface="Poppins SemiBold"/>
              <a:cs typeface="Poppins SemiBold"/>
              <a:sym typeface="Poppins SemiBold"/>
            </a:endParaRPr>
          </a:p>
          <a:p>
            <a:pPr indent="0" lvl="0" marL="0" rtl="0" algn="ctr">
              <a:spcBef>
                <a:spcPts val="8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Populiraising NFT viability in African Markets</a:t>
            </a:r>
            <a:endParaRPr/>
          </a:p>
        </p:txBody>
      </p:sp>
      <p:sp>
        <p:nvSpPr>
          <p:cNvPr id="130" name="Google Shape;130;p25"/>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57150" rtl="0" algn="l">
              <a:spcBef>
                <a:spcPts val="800"/>
              </a:spcBef>
              <a:spcAft>
                <a:spcPts val="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A non-fungible token (NFT) is a unique digital identifier that is recorded on a blockchain and is used to certify ownership and authenticity. It cannot be copied, substituted, or subdivided.The ownership of an NFT is recorded in the blockchain and can be transferred by the owner, allowing NFTs to be sold and traded.</a:t>
            </a:r>
            <a:endParaRPr sz="1300">
              <a:solidFill>
                <a:srgbClr val="002B56"/>
              </a:solidFill>
              <a:latin typeface="Poppins SemiBold"/>
              <a:ea typeface="Poppins SemiBold"/>
              <a:cs typeface="Poppins SemiBold"/>
              <a:sym typeface="Poppins SemiBold"/>
            </a:endParaRPr>
          </a:p>
          <a:p>
            <a:pPr indent="0" lvl="0" marL="57150" rtl="0" algn="l">
              <a:spcBef>
                <a:spcPts val="800"/>
              </a:spcBef>
              <a:spcAft>
                <a:spcPts val="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With the onset of the digital age the introduction of this form of monetisation of the arts, culture and design, the common creative can actually reap the benefits of his craft directly by leveraging digital marketing and publicity against the NFT value chain.</a:t>
            </a:r>
            <a:endParaRPr sz="1300">
              <a:solidFill>
                <a:srgbClr val="002B56"/>
              </a:solidFill>
              <a:latin typeface="Poppins SemiBold"/>
              <a:ea typeface="Poppins SemiBold"/>
              <a:cs typeface="Poppins SemiBold"/>
              <a:sym typeface="Poppins SemiBold"/>
            </a:endParaRPr>
          </a:p>
          <a:p>
            <a:pPr indent="0" lvl="0" marL="0" rtl="0" algn="l">
              <a:spcBef>
                <a:spcPts val="800"/>
              </a:spcBef>
              <a:spcAft>
                <a:spcPts val="800"/>
              </a:spcAft>
              <a:buNone/>
            </a:pPr>
            <a:r>
              <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490250" y="526350"/>
            <a:ext cx="71454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700">
                <a:solidFill>
                  <a:srgbClr val="002B56"/>
                </a:solidFill>
              </a:rPr>
              <a:t>USER STORY.</a:t>
            </a:r>
            <a:endParaRPr sz="2700">
              <a:solidFill>
                <a:srgbClr val="002B56"/>
              </a:solidFill>
            </a:endParaRPr>
          </a:p>
          <a:p>
            <a:pPr indent="0" lvl="0" marL="0" rtl="0" algn="l">
              <a:spcBef>
                <a:spcPts val="0"/>
              </a:spcBef>
              <a:spcAft>
                <a:spcPts val="0"/>
              </a:spcAft>
              <a:buNone/>
            </a:pPr>
            <a:r>
              <a:t/>
            </a:r>
            <a:endParaRPr sz="1400">
              <a:solidFill>
                <a:srgbClr val="002B56"/>
              </a:solidFill>
            </a:endParaRPr>
          </a:p>
          <a:p>
            <a:pPr indent="0" lvl="0" marL="0" rtl="0" algn="l">
              <a:spcBef>
                <a:spcPts val="0"/>
              </a:spcBef>
              <a:spcAft>
                <a:spcPts val="0"/>
              </a:spcAft>
              <a:buNone/>
            </a:pPr>
            <a:r>
              <a:rPr lang="en" sz="2300">
                <a:solidFill>
                  <a:srgbClr val="002B56"/>
                </a:solidFill>
              </a:rPr>
              <a:t>Relatability</a:t>
            </a:r>
            <a:endParaRPr sz="2300">
              <a:solidFill>
                <a:srgbClr val="002B56"/>
              </a:solidFill>
            </a:endParaRPr>
          </a:p>
          <a:p>
            <a:pPr indent="0" lvl="0" marL="57150" rtl="0" algn="l">
              <a:lnSpc>
                <a:spcPct val="115000"/>
              </a:lnSpc>
              <a:spcBef>
                <a:spcPts val="800"/>
              </a:spcBef>
              <a:spcAft>
                <a:spcPts val="0"/>
              </a:spcAft>
              <a:buClr>
                <a:schemeClr val="dk1"/>
              </a:buClr>
              <a:buSzPts val="1100"/>
              <a:buFont typeface="Arial"/>
              <a:buNone/>
            </a:pPr>
            <a:r>
              <a:rPr lang="en" sz="1400">
                <a:solidFill>
                  <a:srgbClr val="002B56"/>
                </a:solidFill>
                <a:latin typeface="Poppins SemiBold"/>
                <a:ea typeface="Poppins SemiBold"/>
                <a:cs typeface="Poppins SemiBold"/>
                <a:sym typeface="Poppins SemiBold"/>
              </a:rPr>
              <a:t>As an artist I expect to be able to showcase my craft solely on the basis of my expertise/talent whilst being able to leverage the fair value of the same in the open market for profit.</a:t>
            </a:r>
            <a:endParaRPr sz="1400">
              <a:solidFill>
                <a:srgbClr val="002B56"/>
              </a:solidFill>
              <a:latin typeface="Poppins SemiBold"/>
              <a:ea typeface="Poppins SemiBold"/>
              <a:cs typeface="Poppins SemiBold"/>
              <a:sym typeface="Poppins SemiBold"/>
            </a:endParaRPr>
          </a:p>
          <a:p>
            <a:pPr indent="-317500" lvl="0" marL="457200" rtl="0" algn="l">
              <a:lnSpc>
                <a:spcPct val="115000"/>
              </a:lnSpc>
              <a:spcBef>
                <a:spcPts val="800"/>
              </a:spcBef>
              <a:spcAft>
                <a:spcPts val="0"/>
              </a:spcAft>
              <a:buClr>
                <a:srgbClr val="002B56"/>
              </a:buClr>
              <a:buSzPts val="1400"/>
              <a:buFont typeface="Poppins SemiBold"/>
              <a:buChar char="●"/>
            </a:pPr>
            <a:r>
              <a:rPr lang="en" sz="1400">
                <a:solidFill>
                  <a:srgbClr val="002B56"/>
                </a:solidFill>
                <a:latin typeface="Poppins SemiBold"/>
                <a:ea typeface="Poppins SemiBold"/>
                <a:cs typeface="Poppins SemiBold"/>
                <a:sym typeface="Poppins SemiBold"/>
              </a:rPr>
              <a:t>Users should be able to market their craft with ease without biases such as discriminatory frameworks or house-hold names prioritisation.</a:t>
            </a:r>
            <a:endParaRPr sz="1400">
              <a:solidFill>
                <a:srgbClr val="002B56"/>
              </a:solidFill>
              <a:latin typeface="Poppins SemiBold"/>
              <a:ea typeface="Poppins SemiBold"/>
              <a:cs typeface="Poppins SemiBold"/>
              <a:sym typeface="Poppins SemiBold"/>
            </a:endParaRPr>
          </a:p>
          <a:p>
            <a:pPr indent="-317500" lvl="0" marL="457200" rtl="0" algn="l">
              <a:lnSpc>
                <a:spcPct val="115000"/>
              </a:lnSpc>
              <a:spcBef>
                <a:spcPts val="0"/>
              </a:spcBef>
              <a:spcAft>
                <a:spcPts val="0"/>
              </a:spcAft>
              <a:buClr>
                <a:srgbClr val="002B56"/>
              </a:buClr>
              <a:buSzPts val="1400"/>
              <a:buFont typeface="Poppins SemiBold"/>
              <a:buChar char="●"/>
            </a:pPr>
            <a:r>
              <a:rPr lang="en" sz="1400">
                <a:solidFill>
                  <a:srgbClr val="002B56"/>
                </a:solidFill>
                <a:latin typeface="Poppins SemiBold"/>
                <a:ea typeface="Poppins SemiBold"/>
                <a:cs typeface="Poppins SemiBold"/>
                <a:sym typeface="Poppins SemiBold"/>
              </a:rPr>
              <a:t>Users should be able to easily monetise their craft as to turn profit.</a:t>
            </a:r>
            <a:endParaRPr sz="1400">
              <a:solidFill>
                <a:srgbClr val="002B5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106450" y="1405200"/>
            <a:ext cx="4045200" cy="141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Solution KPI’s</a:t>
            </a:r>
            <a:endParaRPr/>
          </a:p>
          <a:p>
            <a:pPr indent="0" lvl="0" marL="0" rtl="0" algn="ctr">
              <a:spcBef>
                <a:spcPts val="0"/>
              </a:spcBef>
              <a:spcAft>
                <a:spcPts val="0"/>
              </a:spcAft>
              <a:buNone/>
            </a:pPr>
            <a:r>
              <a:t/>
            </a:r>
            <a:endParaRPr/>
          </a:p>
        </p:txBody>
      </p:sp>
      <p:sp>
        <p:nvSpPr>
          <p:cNvPr id="141" name="Google Shape;141;p27"/>
          <p:cNvSpPr txBox="1"/>
          <p:nvPr>
            <p:ph idx="2" type="body"/>
          </p:nvPr>
        </p:nvSpPr>
        <p:spPr>
          <a:xfrm>
            <a:off x="4891625" y="291650"/>
            <a:ext cx="3884700" cy="4127700"/>
          </a:xfrm>
          <a:prstGeom prst="rect">
            <a:avLst/>
          </a:prstGeom>
        </p:spPr>
        <p:txBody>
          <a:bodyPr anchorCtr="0" anchor="ctr" bIns="91425" lIns="91425" spcFirstLastPara="1" rIns="91425" wrap="square" tIns="91425">
            <a:noAutofit/>
          </a:bodyPr>
          <a:lstStyle/>
          <a:p>
            <a:pPr indent="-317500" lvl="0" marL="457200" rtl="0" algn="l">
              <a:spcBef>
                <a:spcPts val="800"/>
              </a:spcBef>
              <a:spcAft>
                <a:spcPts val="0"/>
              </a:spcAft>
              <a:buClr>
                <a:schemeClr val="lt1"/>
              </a:buClr>
              <a:buSzPts val="1400"/>
              <a:buFont typeface="Poppins SemiBold"/>
              <a:buChar char="●"/>
            </a:pPr>
            <a:r>
              <a:rPr lang="en" sz="1400">
                <a:solidFill>
                  <a:schemeClr val="lt1"/>
                </a:solidFill>
                <a:latin typeface="Poppins SemiBold"/>
                <a:ea typeface="Poppins SemiBold"/>
                <a:cs typeface="Poppins SemiBold"/>
                <a:sym typeface="Poppins SemiBold"/>
              </a:rPr>
              <a:t>Influx of artists and creatives in the African markets.</a:t>
            </a:r>
            <a:endParaRPr sz="1400">
              <a:solidFill>
                <a:schemeClr val="lt1"/>
              </a:solidFill>
              <a:latin typeface="Poppins SemiBold"/>
              <a:ea typeface="Poppins SemiBold"/>
              <a:cs typeface="Poppins SemiBold"/>
              <a:sym typeface="Poppins SemiBold"/>
            </a:endParaRPr>
          </a:p>
          <a:p>
            <a:pPr indent="-317500" lvl="0" marL="457200" rtl="0" algn="l">
              <a:spcBef>
                <a:spcPts val="0"/>
              </a:spcBef>
              <a:spcAft>
                <a:spcPts val="0"/>
              </a:spcAft>
              <a:buClr>
                <a:schemeClr val="lt1"/>
              </a:buClr>
              <a:buSzPts val="1400"/>
              <a:buFont typeface="Poppins SemiBold"/>
              <a:buChar char="●"/>
            </a:pPr>
            <a:r>
              <a:rPr lang="en" sz="1400">
                <a:solidFill>
                  <a:schemeClr val="lt1"/>
                </a:solidFill>
                <a:latin typeface="Poppins SemiBold"/>
                <a:ea typeface="Poppins SemiBold"/>
                <a:cs typeface="Poppins SemiBold"/>
                <a:sym typeface="Poppins SemiBold"/>
              </a:rPr>
              <a:t>Number of subscriptions to the meta-verse platforms.</a:t>
            </a:r>
            <a:endParaRPr sz="1400">
              <a:solidFill>
                <a:schemeClr val="lt1"/>
              </a:solidFill>
              <a:latin typeface="Poppins SemiBold"/>
              <a:ea typeface="Poppins SemiBold"/>
              <a:cs typeface="Poppins SemiBold"/>
              <a:sym typeface="Poppins SemiBold"/>
            </a:endParaRPr>
          </a:p>
          <a:p>
            <a:pPr indent="-317500" lvl="0" marL="457200" rtl="0" algn="l">
              <a:spcBef>
                <a:spcPts val="0"/>
              </a:spcBef>
              <a:spcAft>
                <a:spcPts val="0"/>
              </a:spcAft>
              <a:buClr>
                <a:schemeClr val="lt1"/>
              </a:buClr>
              <a:buSzPts val="1400"/>
              <a:buFont typeface="Poppins SemiBold"/>
              <a:buChar char="●"/>
            </a:pPr>
            <a:r>
              <a:rPr lang="en" sz="1400">
                <a:solidFill>
                  <a:schemeClr val="lt1"/>
                </a:solidFill>
                <a:latin typeface="Poppins SemiBold"/>
                <a:ea typeface="Poppins SemiBold"/>
                <a:cs typeface="Poppins SemiBold"/>
                <a:sym typeface="Poppins SemiBold"/>
              </a:rPr>
              <a:t>Statistical data and market trend analysis on the blockchain shifts in NFT uptakes.</a:t>
            </a:r>
            <a:endParaRPr sz="1400">
              <a:solidFill>
                <a:schemeClr val="lt1"/>
              </a:solidFill>
              <a:latin typeface="Poppins SemiBold"/>
              <a:ea typeface="Poppins SemiBold"/>
              <a:cs typeface="Poppins SemiBold"/>
              <a:sym typeface="Poppins SemiBold"/>
            </a:endParaRPr>
          </a:p>
          <a:p>
            <a:pPr indent="-317500" lvl="0" marL="457200" rtl="0" algn="l">
              <a:spcBef>
                <a:spcPts val="0"/>
              </a:spcBef>
              <a:spcAft>
                <a:spcPts val="0"/>
              </a:spcAft>
              <a:buClr>
                <a:schemeClr val="lt1"/>
              </a:buClr>
              <a:buSzPts val="1400"/>
              <a:buFont typeface="Poppins SemiBold"/>
              <a:buChar char="●"/>
            </a:pPr>
            <a:r>
              <a:rPr lang="en" sz="1400">
                <a:solidFill>
                  <a:schemeClr val="lt1"/>
                </a:solidFill>
                <a:latin typeface="Poppins SemiBold"/>
                <a:ea typeface="Poppins SemiBold"/>
                <a:cs typeface="Poppins SemiBold"/>
                <a:sym typeface="Poppins SemiBold"/>
              </a:rPr>
              <a:t>Public opinion polls on the value of arts, culture and design in the African continent.</a:t>
            </a:r>
            <a:endParaRPr sz="2200">
              <a:solidFill>
                <a:schemeClr val="lt1"/>
              </a:solidFill>
            </a:endParaRPr>
          </a:p>
        </p:txBody>
      </p:sp>
      <p:sp>
        <p:nvSpPr>
          <p:cNvPr id="142" name="Google Shape;142;p27"/>
          <p:cNvSpPr txBox="1"/>
          <p:nvPr>
            <p:ph idx="1" type="subTitle"/>
          </p:nvPr>
        </p:nvSpPr>
        <p:spPr>
          <a:xfrm>
            <a:off x="265500" y="2306625"/>
            <a:ext cx="4045200" cy="10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Deliverables</a:t>
            </a:r>
            <a:endParaRPr sz="1300">
              <a:latin typeface="Poppins SemiBold"/>
              <a:ea typeface="Poppins SemiBold"/>
              <a:cs typeface="Poppins SemiBold"/>
              <a:sym typeface="Poppins SemiBold"/>
            </a:endParaRPr>
          </a:p>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Mission VS Solution</a:t>
            </a:r>
            <a:endParaRPr/>
          </a:p>
        </p:txBody>
      </p:sp>
      <p:sp>
        <p:nvSpPr>
          <p:cNvPr id="148" name="Google Shape;148;p2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57150" rtl="0" algn="l">
              <a:spcBef>
                <a:spcPts val="800"/>
              </a:spcBef>
              <a:spcAft>
                <a:spcPts val="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The inhibition of the freedom that accompanies the Arts, Culture, and Design scene is most evident in the gate-keeping that many artists and designers encounter as they try to emerge in the industry, and the continuation of this will eventually lead to the stifling of maestro-level talent within the industry, especially in the African continent.</a:t>
            </a:r>
            <a:endParaRPr sz="1300">
              <a:solidFill>
                <a:srgbClr val="002B56"/>
              </a:solidFill>
              <a:latin typeface="Poppins SemiBold"/>
              <a:ea typeface="Poppins SemiBold"/>
              <a:cs typeface="Poppins SemiBold"/>
              <a:sym typeface="Poppins SemiBold"/>
            </a:endParaRPr>
          </a:p>
          <a:p>
            <a:pPr indent="0" lvl="0" marL="57150" rtl="0" algn="l">
              <a:spcBef>
                <a:spcPts val="800"/>
              </a:spcBef>
              <a:spcAft>
                <a:spcPts val="0"/>
              </a:spcAft>
              <a:buClr>
                <a:schemeClr val="dk1"/>
              </a:buClr>
              <a:buSzPts val="1100"/>
              <a:buFont typeface="Arial"/>
              <a:buNone/>
            </a:pPr>
            <a:r>
              <a:rPr lang="en" sz="1300">
                <a:solidFill>
                  <a:srgbClr val="002B56"/>
                </a:solidFill>
                <a:latin typeface="Poppins SemiBold"/>
                <a:ea typeface="Poppins SemiBold"/>
                <a:cs typeface="Poppins SemiBold"/>
                <a:sym typeface="Poppins SemiBold"/>
              </a:rPr>
              <a:t>Solutions such as A non-fungible token (NFT), a unique digital identifier that is recorded on a blockchain and is used to certify ownership and authenticity, cannot be copied, substituted, or subdivided. By the ownership of an NFT being recorded in the blockchain and being transferable by the owner, allowing NFTs to be sold and traded, Introduction of this form of monetisation of the arts, culture and design, the common creative can actually reap the benefits of his craft directly by leveraging digital marketing and publicity against the NFT value chain. There in turn igniting the economy and enriching the African culture as a whole.</a:t>
            </a:r>
            <a:endParaRPr sz="1400">
              <a:solidFill>
                <a:srgbClr val="002B56"/>
              </a:solidFill>
              <a:latin typeface="Poppins SemiBold"/>
              <a:ea typeface="Poppins SemiBold"/>
              <a:cs typeface="Poppins SemiBold"/>
              <a:sym typeface="Poppins SemiBold"/>
            </a:endParaRPr>
          </a:p>
          <a:p>
            <a:pPr indent="0" lvl="0" marL="0" rtl="0" algn="l">
              <a:spcBef>
                <a:spcPts val="800"/>
              </a:spcBef>
              <a:spcAft>
                <a:spcPts val="800"/>
              </a:spcAft>
              <a:buNone/>
            </a:pPr>
            <a:r>
              <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159475" y="424225"/>
            <a:ext cx="4045200" cy="234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Appendices</a:t>
            </a:r>
            <a:endParaRPr/>
          </a:p>
          <a:p>
            <a:pPr indent="0" lvl="0" marL="0" rtl="0" algn="l">
              <a:spcBef>
                <a:spcPts val="0"/>
              </a:spcBef>
              <a:spcAft>
                <a:spcPts val="0"/>
              </a:spcAft>
              <a:buNone/>
            </a:pPr>
            <a:r>
              <a:t/>
            </a:r>
            <a:endParaRPr sz="2600">
              <a:solidFill>
                <a:schemeClr val="dk1"/>
              </a:solidFill>
            </a:endParaRPr>
          </a:p>
          <a:p>
            <a:pPr indent="0" lvl="0" marL="0" rtl="0" algn="l">
              <a:spcBef>
                <a:spcPts val="0"/>
              </a:spcBef>
              <a:spcAft>
                <a:spcPts val="0"/>
              </a:spcAft>
              <a:buClr>
                <a:schemeClr val="dk1"/>
              </a:buClr>
              <a:buSzPts val="1100"/>
              <a:buFont typeface="Arial"/>
              <a:buNone/>
            </a:pPr>
            <a:r>
              <a:rPr lang="en" sz="2600">
                <a:solidFill>
                  <a:schemeClr val="dk1"/>
                </a:solidFill>
              </a:rPr>
              <a:t>Sources</a:t>
            </a:r>
            <a:endParaRPr sz="2600">
              <a:solidFill>
                <a:schemeClr val="dk1"/>
              </a:solidFill>
            </a:endParaRPr>
          </a:p>
          <a:p>
            <a:pPr indent="0" lvl="0" marL="0" rtl="0" algn="l">
              <a:spcBef>
                <a:spcPts val="0"/>
              </a:spcBef>
              <a:spcAft>
                <a:spcPts val="0"/>
              </a:spcAft>
              <a:buNone/>
            </a:pPr>
            <a:r>
              <a:t/>
            </a:r>
            <a:endParaRPr/>
          </a:p>
        </p:txBody>
      </p:sp>
      <p:sp>
        <p:nvSpPr>
          <p:cNvPr id="154" name="Google Shape;154;p29"/>
          <p:cNvSpPr txBox="1"/>
          <p:nvPr>
            <p:ph idx="2" type="body"/>
          </p:nvPr>
        </p:nvSpPr>
        <p:spPr>
          <a:xfrm>
            <a:off x="4891625" y="291650"/>
            <a:ext cx="3884700" cy="4127700"/>
          </a:xfrm>
          <a:prstGeom prst="rect">
            <a:avLst/>
          </a:prstGeom>
        </p:spPr>
        <p:txBody>
          <a:bodyPr anchorCtr="0" anchor="ctr" bIns="91425" lIns="91425" spcFirstLastPara="1" rIns="91425" wrap="square" tIns="91425">
            <a:noAutofit/>
          </a:bodyPr>
          <a:lstStyle/>
          <a:p>
            <a:pPr indent="0" lvl="0" marL="457200" rtl="0" algn="l">
              <a:spcBef>
                <a:spcPts val="800"/>
              </a:spcBef>
              <a:spcAft>
                <a:spcPts val="0"/>
              </a:spcAft>
              <a:buNone/>
            </a:pPr>
            <a:r>
              <a:rPr lang="en" sz="2600">
                <a:solidFill>
                  <a:schemeClr val="lt2"/>
                </a:solidFill>
              </a:rPr>
              <a:t>Audience</a:t>
            </a:r>
            <a:endParaRPr sz="200">
              <a:solidFill>
                <a:schemeClr val="lt1"/>
              </a:solidFill>
              <a:latin typeface="Poppins SemiBold"/>
              <a:ea typeface="Poppins SemiBold"/>
              <a:cs typeface="Poppins SemiBold"/>
              <a:sym typeface="Poppins SemiBold"/>
            </a:endParaRPr>
          </a:p>
          <a:p>
            <a:pPr indent="-311150" lvl="0" marL="457200" rtl="0" algn="l">
              <a:spcBef>
                <a:spcPts val="800"/>
              </a:spcBef>
              <a:spcAft>
                <a:spcPts val="0"/>
              </a:spcAft>
              <a:buClr>
                <a:schemeClr val="lt1"/>
              </a:buClr>
              <a:buSzPts val="1300"/>
              <a:buFont typeface="Poppins SemiBold"/>
              <a:buChar char="●"/>
            </a:pPr>
            <a:r>
              <a:rPr lang="en" sz="1300">
                <a:solidFill>
                  <a:schemeClr val="lt1"/>
                </a:solidFill>
                <a:latin typeface="Poppins SemiBold"/>
                <a:ea typeface="Poppins SemiBold"/>
                <a:cs typeface="Poppins SemiBold"/>
                <a:sym typeface="Poppins SemiBold"/>
              </a:rPr>
              <a:t>5–10 million people across the continent are impacted by systemic gatekeeping, with disproportionate effects on women, youth, rural populations, and marginalized creatives.</a:t>
            </a:r>
            <a:endParaRPr sz="1300">
              <a:solidFill>
                <a:schemeClr val="lt1"/>
              </a:solidFill>
              <a:latin typeface="Poppins SemiBold"/>
              <a:ea typeface="Poppins SemiBold"/>
              <a:cs typeface="Poppins SemiBold"/>
              <a:sym typeface="Poppins SemiBold"/>
            </a:endParaRPr>
          </a:p>
          <a:p>
            <a:pPr indent="-311150" lvl="0" marL="457200" rtl="0" algn="l">
              <a:spcBef>
                <a:spcPts val="0"/>
              </a:spcBef>
              <a:spcAft>
                <a:spcPts val="0"/>
              </a:spcAft>
              <a:buClr>
                <a:schemeClr val="lt1"/>
              </a:buClr>
              <a:buSzPts val="1300"/>
              <a:buFont typeface="Poppins SemiBold"/>
              <a:buChar char="●"/>
            </a:pPr>
            <a:r>
              <a:rPr lang="en" sz="1300">
                <a:solidFill>
                  <a:schemeClr val="lt1"/>
                </a:solidFill>
                <a:latin typeface="Poppins SemiBold"/>
                <a:ea typeface="Poppins SemiBold"/>
                <a:cs typeface="Poppins SemiBold"/>
                <a:sym typeface="Poppins SemiBold"/>
              </a:rPr>
              <a:t>The creative economy (arts, culture, design, film, fashion, music, etc.) contributes between 1–3% of GDP in many African countries, with significant potential for growth.</a:t>
            </a:r>
            <a:endParaRPr sz="1300">
              <a:solidFill>
                <a:schemeClr val="lt1"/>
              </a:solidFill>
              <a:latin typeface="Poppins SemiBold"/>
              <a:ea typeface="Poppins SemiBold"/>
              <a:cs typeface="Poppins SemiBold"/>
              <a:sym typeface="Poppins SemiBold"/>
            </a:endParaRPr>
          </a:p>
          <a:p>
            <a:pPr indent="-311150" lvl="0" marL="457200" rtl="0" algn="l">
              <a:spcBef>
                <a:spcPts val="0"/>
              </a:spcBef>
              <a:spcAft>
                <a:spcPts val="0"/>
              </a:spcAft>
              <a:buClr>
                <a:schemeClr val="lt1"/>
              </a:buClr>
              <a:buSzPts val="1300"/>
              <a:buFont typeface="Poppins SemiBold"/>
              <a:buChar char="●"/>
            </a:pPr>
            <a:r>
              <a:rPr lang="en" sz="1300">
                <a:solidFill>
                  <a:schemeClr val="lt1"/>
                </a:solidFill>
                <a:latin typeface="Poppins SemiBold"/>
                <a:ea typeface="Poppins SemiBold"/>
                <a:cs typeface="Poppins SemiBold"/>
                <a:sym typeface="Poppins SemiBold"/>
              </a:rPr>
              <a:t>The International Confederation of Societies of Authors and Composers (CISAC) reported that over 2.4 million jobs across Africa are directly tied to the creative and cultural industries.</a:t>
            </a:r>
            <a:endParaRPr sz="1400">
              <a:solidFill>
                <a:schemeClr val="lt1"/>
              </a:solidFill>
              <a:latin typeface="Poppins SemiBold"/>
              <a:ea typeface="Poppins SemiBold"/>
              <a:cs typeface="Poppins SemiBold"/>
              <a:sym typeface="Poppins SemiBold"/>
            </a:endParaRPr>
          </a:p>
        </p:txBody>
      </p:sp>
      <p:sp>
        <p:nvSpPr>
          <p:cNvPr id="155" name="Google Shape;155;p29"/>
          <p:cNvSpPr txBox="1"/>
          <p:nvPr>
            <p:ph idx="1" type="subTitle"/>
          </p:nvPr>
        </p:nvSpPr>
        <p:spPr>
          <a:xfrm>
            <a:off x="265500" y="2306625"/>
            <a:ext cx="4045200" cy="18825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800"/>
              </a:spcBef>
              <a:spcAft>
                <a:spcPts val="0"/>
              </a:spcAft>
              <a:buSzPts val="1300"/>
              <a:buFont typeface="Poppins"/>
              <a:buChar char="●"/>
            </a:pPr>
            <a:r>
              <a:rPr lang="en" sz="1300">
                <a:latin typeface="Poppins"/>
                <a:ea typeface="Poppins"/>
                <a:cs typeface="Poppins"/>
                <a:sym typeface="Poppins"/>
              </a:rPr>
              <a:t>Solution, NFT </a:t>
            </a:r>
            <a:r>
              <a:rPr lang="en" sz="1300" u="sng">
                <a:solidFill>
                  <a:srgbClr val="1155CC"/>
                </a:solidFill>
                <a:latin typeface="Poppins"/>
                <a:ea typeface="Poppins"/>
                <a:cs typeface="Poppins"/>
                <a:sym typeface="Poppins"/>
                <a:hlinkClick r:id="rId3">
                  <a:extLst>
                    <a:ext uri="{A12FA001-AC4F-418D-AE19-62706E023703}">
                      <ahyp:hlinkClr val="tx"/>
                    </a:ext>
                  </a:extLst>
                </a:hlinkClick>
              </a:rPr>
              <a:t>https://en.wikipedia.org/wiki/Non-fungible_token</a:t>
            </a:r>
            <a:endParaRPr sz="1300">
              <a:latin typeface="Poppins"/>
              <a:ea typeface="Poppins"/>
              <a:cs typeface="Poppins"/>
              <a:sym typeface="Poppins"/>
            </a:endParaRPr>
          </a:p>
          <a:p>
            <a:pPr indent="-311150" lvl="0" marL="457200" rtl="0" algn="l">
              <a:lnSpc>
                <a:spcPct val="115000"/>
              </a:lnSpc>
              <a:spcBef>
                <a:spcPts val="800"/>
              </a:spcBef>
              <a:spcAft>
                <a:spcPts val="0"/>
              </a:spcAft>
              <a:buClr>
                <a:srgbClr val="002B56"/>
              </a:buClr>
              <a:buSzPts val="1300"/>
              <a:buFont typeface="Poppins SemiBold"/>
              <a:buChar char="●"/>
            </a:pPr>
            <a:r>
              <a:rPr lang="en" sz="1300">
                <a:latin typeface="Poppins"/>
                <a:ea typeface="Poppins"/>
                <a:cs typeface="Poppins"/>
                <a:sym typeface="Poppins"/>
              </a:rPr>
              <a:t>UNESCO and UNCTAD report</a:t>
            </a:r>
            <a:endParaRPr sz="4300">
              <a:solidFill>
                <a:schemeClr val="lt2"/>
              </a:solidFill>
            </a:endParaRPr>
          </a:p>
          <a:p>
            <a:pPr indent="0" lvl="0" marL="0" rtl="0" algn="ctr">
              <a:spcBef>
                <a:spcPts val="8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